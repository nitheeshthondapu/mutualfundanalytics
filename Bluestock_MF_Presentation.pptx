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solidFill>
                  <a:srgbClr val="2563EB"/>
                </a:solidFill>
                <a:latin typeface="Arial"/>
              </a:rPr>
              <a:t>Bluestock Mutual Fund Analytics</a:t>
            </a:r>
          </a:p>
        </p:txBody>
      </p:sp>
      <p:sp>
        <p:nvSpPr>
          <p:cNvPr id="3" name="Subtitle 2"/>
          <p:cNvSpPr>
            <a:spLocks noGrp="1"/>
          </p:cNvSpPr>
          <p:nvPr>
            <p:ph type="subTitle" idx="1"/>
          </p:nvPr>
        </p:nvSpPr>
        <p:spPr/>
        <p:txBody>
          <a:bodyPr/>
          <a:lstStyle/>
          <a:p>
            <a:r>
              <a:rPr sz="1400" b="0">
                <a:solidFill>
                  <a:srgbClr val="6B7280"/>
                </a:solidFill>
                <a:latin typeface="Arial"/>
              </a:rPr>
              <a:t>Capstone Project Presentation: Ingestion, ETL, Performance &amp; Quantitative Risk</a:t>
            </a:r>
          </a:p>
          <a:p>
            <a:r>
              <a:t>Author: Nitheesh Thondapu | Date: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Problem Statement &amp; Project Objectives</a:t>
            </a:r>
          </a:p>
        </p:txBody>
      </p:sp>
      <p:sp>
        <p:nvSpPr>
          <p:cNvPr id="3" name="Content Placeholder 2"/>
          <p:cNvSpPr>
            <a:spLocks noGrp="1"/>
          </p:cNvSpPr>
          <p:nvPr>
            <p:ph idx="1"/>
          </p:nvPr>
        </p:nvSpPr>
        <p:spPr/>
        <p:txBody>
          <a:bodyPr/>
          <a:lstStyle/>
          <a:p/>
          <a:p>
            <a:pPr/>
            <a:r>
              <a:rPr sz="1800" b="1">
                <a:solidFill>
                  <a:srgbClr val="2563EB"/>
                </a:solidFill>
                <a:latin typeface="Arial"/>
              </a:rPr>
              <a:t>Problem Statement:</a:t>
            </a:r>
          </a:p>
          <a:p>
            <a:pPr lvl="1"/>
            <a:r>
              <a:t>Mutual fund data is stored across disparate formats, presenting gaps, weekends, and holidays in NAV values, as well as unstandardized transaction types and KYC statuses. Portfolio managers require structured risk models and interactive dashboards to evaluate performance.</a:t>
            </a:r>
          </a:p>
          <a:p>
            <a:pPr/>
            <a:r>
              <a:rPr sz="1800" b="1">
                <a:solidFill>
                  <a:srgbClr val="2563EB"/>
                </a:solidFill>
                <a:latin typeface="Arial"/>
              </a:rPr>
              <a:t>Project Objectives:</a:t>
            </a:r>
          </a:p>
          <a:p>
            <a:pPr lvl="1"/>
            <a:r>
              <a:t>1. Clean, reindex, and forward-fill NAV records; standardize transaction details.</a:t>
            </a:r>
            <a:br/>
            <a:r>
              <a:t>2. Design SQLite Star Schema to store facts and dimensions.</a:t>
            </a:r>
            <a:br/>
            <a:r>
              <a:t>3. Evaluate CAGR, Sharpe, Sortino, Alpha, Beta, Max Drawdown, VaR/CVaR, and Sector HHI concentration.</a:t>
            </a:r>
            <a:br/>
            <a:r>
              <a:t>4. Deploy Custom Flask &amp; HTML/JS/CSS interactive web application and schedule weekday ETL fetches.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Structured Data Sources</a:t>
            </a:r>
          </a:p>
        </p:txBody>
      </p:sp>
      <p:sp>
        <p:nvSpPr>
          <p:cNvPr id="3" name="Content Placeholder 2"/>
          <p:cNvSpPr>
            <a:spLocks noGrp="1"/>
          </p:cNvSpPr>
          <p:nvPr>
            <p:ph idx="1"/>
          </p:nvPr>
        </p:nvSpPr>
        <p:spPr/>
        <p:txBody>
          <a:bodyPr/>
          <a:lstStyle/>
          <a:p>
            <a:r>
              <a:t>Blending 10 CSV datasets and live API feeds:</a:t>
            </a:r>
          </a:p>
          <a:p>
            <a:pPr lvl="1"/>
            <a:r>
              <a:rPr sz="1200" b="0">
                <a:solidFill>
                  <a:srgbClr val="1F2937"/>
                </a:solidFill>
                <a:latin typeface="Arial"/>
              </a:rPr>
              <a:t>01_fund_master: Scheme info, expense ratios, exit loads.</a:t>
            </a:r>
          </a:p>
          <a:p>
            <a:pPr lvl="1"/>
            <a:r>
              <a:rPr sz="1200" b="0">
                <a:solidFill>
                  <a:srgbClr val="1F2937"/>
                </a:solidFill>
                <a:latin typeface="Arial"/>
              </a:rPr>
              <a:t>02_nav_history: 64,320 rows of daily NAV records.</a:t>
            </a:r>
          </a:p>
          <a:p>
            <a:pPr lvl="1"/>
            <a:r>
              <a:rPr sz="1200" b="0">
                <a:solidFill>
                  <a:srgbClr val="1F2937"/>
                </a:solidFill>
                <a:latin typeface="Arial"/>
              </a:rPr>
              <a:t>03_aum_by_fund_house: Total AMC assets and scheme counts.</a:t>
            </a:r>
          </a:p>
          <a:p>
            <a:pPr lvl="1"/>
            <a:r>
              <a:rPr sz="1200" b="0">
                <a:solidFill>
                  <a:srgbClr val="1F2937"/>
                </a:solidFill>
                <a:latin typeface="Arial"/>
              </a:rPr>
              <a:t>04_monthly_sip_inflows / 05_category_inflows: Systematic inflow records.</a:t>
            </a:r>
          </a:p>
          <a:p>
            <a:pPr lvl="1"/>
            <a:r>
              <a:rPr sz="1200" b="0">
                <a:solidFill>
                  <a:srgbClr val="1F2937"/>
                </a:solidFill>
                <a:latin typeface="Arial"/>
              </a:rPr>
              <a:t>06_industry_folio_count: Total, equity, debt, and hybrid accounts.</a:t>
            </a:r>
          </a:p>
          <a:p>
            <a:pPr lvl="1"/>
            <a:r>
              <a:rPr sz="1200" b="0">
                <a:solidFill>
                  <a:srgbClr val="1F2937"/>
                </a:solidFill>
                <a:latin typeface="Arial"/>
              </a:rPr>
              <a:t>07_scheme_performance: Metrics including ratings and risk grades.</a:t>
            </a:r>
          </a:p>
          <a:p>
            <a:pPr lvl="1"/>
            <a:r>
              <a:rPr sz="1200" b="0">
                <a:solidFill>
                  <a:srgbClr val="1F2937"/>
                </a:solidFill>
                <a:latin typeface="Arial"/>
              </a:rPr>
              <a:t>08_investor_transactions: 32,778 rows of investor transaction records.</a:t>
            </a:r>
          </a:p>
          <a:p>
            <a:pPr lvl="1"/>
            <a:r>
              <a:rPr sz="1200" b="0">
                <a:solidFill>
                  <a:srgbClr val="1F2937"/>
                </a:solidFill>
                <a:latin typeface="Arial"/>
              </a:rPr>
              <a:t>09_portfolio_holdings: Weighted stock symbols and sectors.</a:t>
            </a:r>
          </a:p>
          <a:p>
            <a:pPr lvl="1"/>
            <a:r>
              <a:rPr sz="1200" b="0">
                <a:solidFill>
                  <a:srgbClr val="1F2937"/>
                </a:solidFill>
                <a:latin typeface="Arial"/>
              </a:rPr>
              <a:t>10_benchmark_indices: Nifty 50 and Nifty 100 historical closes.</a:t>
            </a:r>
          </a:p>
          <a:p>
            <a:pPr lvl="1"/>
            <a:r>
              <a:rPr sz="1200" b="0">
                <a:solidFill>
                  <a:srgbClr val="1F2937"/>
                </a:solidFill>
                <a:latin typeface="Arial"/>
              </a:rPr>
              <a:t>mfapi.in API: Live NAV history fetch for key schemes.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ETL Design &amp; Relational Star Schema</a:t>
            </a:r>
          </a:p>
        </p:txBody>
      </p:sp>
      <p:sp>
        <p:nvSpPr>
          <p:cNvPr id="3" name="Content Placeholder 2"/>
          <p:cNvSpPr>
            <a:spLocks noGrp="1"/>
          </p:cNvSpPr>
          <p:nvPr>
            <p:ph idx="1"/>
          </p:nvPr>
        </p:nvSpPr>
        <p:spPr/>
        <p:txBody>
          <a:bodyPr/>
          <a:lstStyle/>
          <a:p>
            <a:r>
              <a:t>Relational SQLite Star Schema (bluestock_mf.db) loaded via SQLAlchemy:</a:t>
            </a:r>
          </a:p>
          <a:p>
            <a:pPr lvl="1"/>
            <a:r>
              <a:rPr sz="1400" b="0">
                <a:solidFill>
                  <a:srgbClr val="1F2937"/>
                </a:solidFill>
                <a:latin typeface="Arial"/>
              </a:rPr>
              <a:t>Dimension Tables: dim_fund (scheme manager/metadata) and dim_date (time-series indicators).</a:t>
            </a:r>
          </a:p>
          <a:p>
            <a:pPr lvl="1"/>
            <a:r>
              <a:rPr sz="1400" b="0">
                <a:solidFill>
                  <a:srgbClr val="1F2937"/>
                </a:solidFill>
                <a:latin typeface="Arial"/>
              </a:rPr>
              <a:t>Fact Tables: fact_nav (daily net asset values), fact_transactions (investor actions), fact_performance (risk ratios), fact_aum (AMC total assets).</a:t>
            </a:r>
          </a:p>
          <a:p>
            <a:pPr lvl="1"/>
            <a:r>
              <a:rPr sz="1400" b="0">
                <a:solidFill>
                  <a:srgbClr val="1F2937"/>
                </a:solidFill>
                <a:latin typeface="Arial"/>
              </a:rPr>
              <a:t>Orchestrator: scripts/etl_pipeline.py cleans datasets, establishes foreign key constraints, populates tables, and prints row count match reports.</a:t>
            </a:r>
          </a:p>
          <a:p>
            <a:pPr lvl="1"/>
            <a:r>
              <a:rPr sz="1400" b="0">
                <a:solidFill>
                  <a:srgbClr val="1F2937"/>
                </a:solidFill>
                <a:latin typeface="Arial"/>
              </a:rPr>
              <a:t>B1 Scheduler: scripts/schedule_etl.py creates Windows Task Scheduler / Cron job to fetch live NAVs weekdays at 8 PM.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EDA Highlight: Industry AUM Growth</a:t>
            </a:r>
          </a:p>
        </p:txBody>
      </p:sp>
      <p:pic>
        <p:nvPicPr>
          <p:cNvPr id="3" name="Picture 2" descr="eda_total_aum_growth.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EDA Highlight: Investor Inflow by State</a:t>
            </a:r>
          </a:p>
        </p:txBody>
      </p:sp>
      <p:pic>
        <p:nvPicPr>
          <p:cNvPr id="3" name="Picture 2" descr="eda_geographic_state_bar.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Mutual Fund Performance Analytics</a:t>
            </a:r>
          </a:p>
        </p:txBody>
      </p:sp>
      <p:sp>
        <p:nvSpPr>
          <p:cNvPr id="3" name="Content Placeholder 2"/>
          <p:cNvSpPr>
            <a:spLocks noGrp="1"/>
          </p:cNvSpPr>
          <p:nvPr>
            <p:ph idx="1"/>
          </p:nvPr>
        </p:nvSpPr>
        <p:spPr/>
        <p:txBody>
          <a:bodyPr/>
          <a:lstStyle/>
          <a:p>
            <a:r>
              <a:t>Comprehensive performance ranking across 40 schemes:</a:t>
            </a:r>
          </a:p>
          <a:p>
            <a:pPr lvl="1"/>
            <a:r>
              <a:rPr sz="1300" b="0">
                <a:solidFill>
                  <a:srgbClr val="1F2937"/>
                </a:solidFill>
                <a:latin typeface="Arial"/>
              </a:rPr>
              <a:t>CAGR: Annualized returns calculated for 1yr, 3yr, and 5yr using 252 trading days.</a:t>
            </a:r>
          </a:p>
          <a:p>
            <a:pPr lvl="1"/>
            <a:r>
              <a:rPr sz="1300" b="0">
                <a:solidFill>
                  <a:srgbClr val="1F2937"/>
                </a:solidFill>
                <a:latin typeface="Arial"/>
              </a:rPr>
              <a:t>Sharpe Ratio: Annualized risk-adjusted excess return using Rf = 6.5% (RBI repo rate proxy).</a:t>
            </a:r>
          </a:p>
          <a:p>
            <a:pPr lvl="1"/>
            <a:r>
              <a:rPr sz="1300" b="0">
                <a:solidFill>
                  <a:srgbClr val="1F2937"/>
                </a:solidFill>
                <a:latin typeface="Arial"/>
              </a:rPr>
              <a:t>Sortino Ratio: Downside deviation risk-adjusted return (excluding positive return days).</a:t>
            </a:r>
          </a:p>
          <a:p>
            <a:pPr lvl="1"/>
            <a:r>
              <a:rPr sz="1300" b="0">
                <a:solidFill>
                  <a:srgbClr val="1F2937"/>
                </a:solidFill>
                <a:latin typeface="Arial"/>
              </a:rPr>
              <a:t>Alpha &amp; Beta: Calculated via OLS regression against Nifty 100 benchmark index.</a:t>
            </a:r>
          </a:p>
          <a:p>
            <a:pPr lvl="1"/>
            <a:r>
              <a:rPr sz="1300" b="0">
                <a:solidFill>
                  <a:srgbClr val="1F2937"/>
                </a:solidFill>
                <a:latin typeface="Arial"/>
              </a:rPr>
              <a:t>Maximum Drawdown: Tracks worst peak-to-trough drop and historical recovery duration.</a:t>
            </a:r>
          </a:p>
          <a:p>
            <a:pPr lvl="1"/>
            <a:r>
              <a:rPr sz="1300" b="0">
                <a:solidFill>
                  <a:srgbClr val="1F2937"/>
                </a:solidFill>
                <a:latin typeface="Arial"/>
              </a:rPr>
              <a:t>Scorecard (0-100): Composite metric: 30% Return + 25% Sharpe + 20% Alpha + 15% Expense (inverse) + 10% Max Drawdown (inverse).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Performance: Top Funds vs Benchmark (3 Years)</a:t>
            </a:r>
          </a:p>
        </p:txBody>
      </p:sp>
      <p:pic>
        <p:nvPicPr>
          <p:cNvPr id="3" name="Picture 2" descr="benchmark_comparison_chart.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Advanced Risk Modeling: VaR &amp; CVaR</a:t>
            </a:r>
          </a:p>
        </p:txBody>
      </p:sp>
      <p:sp>
        <p:nvSpPr>
          <p:cNvPr id="3" name="Content Placeholder 2"/>
          <p:cNvSpPr>
            <a:spLocks noGrp="1"/>
          </p:cNvSpPr>
          <p:nvPr>
            <p:ph idx="1"/>
          </p:nvPr>
        </p:nvSpPr>
        <p:spPr/>
        <p:txBody>
          <a:bodyPr/>
          <a:lstStyle/>
          <a:p>
            <a:r>
              <a:t>Assessing extreme tail risk via Historical Value at Risk (95%):</a:t>
            </a:r>
          </a:p>
          <a:p>
            <a:pPr lvl="1"/>
            <a:r>
              <a:rPr sz="1400" b="0">
                <a:solidFill>
                  <a:srgbClr val="1F2937"/>
                </a:solidFill>
                <a:latin typeface="Arial"/>
              </a:rPr>
              <a:t>VaR (95%) represents the 5th percentile of daily returns for each mutual fund.</a:t>
            </a:r>
          </a:p>
          <a:p>
            <a:pPr lvl="1"/>
            <a:r>
              <a:rPr sz="1400" b="0">
                <a:solidFill>
                  <a:srgbClr val="1F2937"/>
                </a:solidFill>
                <a:latin typeface="Arial"/>
              </a:rPr>
              <a:t>CVaR (Conditional VaR) is the average loss on days exceeding the VaR threshold.</a:t>
            </a:r>
          </a:p>
          <a:p>
            <a:pPr lvl="1"/>
            <a:r>
              <a:rPr sz="1400" b="0">
                <a:solidFill>
                  <a:srgbClr val="1F2937"/>
                </a:solidFill>
                <a:latin typeface="Arial"/>
              </a:rPr>
              <a:t>SBI Small Cap Fund (VaR: -2.12%) and Quant Mid Cap Fund (VaR: -1.95%) have the highest daily tail risk.</a:t>
            </a:r>
          </a:p>
          <a:p>
            <a:pPr lvl="1"/>
            <a:r>
              <a:rPr sz="1400" b="0">
                <a:solidFill>
                  <a:srgbClr val="1F2937"/>
                </a:solidFill>
                <a:latin typeface="Arial"/>
              </a:rPr>
              <a:t>HDFC Liquid Fund (VaR: -0.01%) represents minimal daily risk.</a:t>
            </a:r>
          </a:p>
          <a:p>
            <a:pPr lvl="1"/>
            <a:r>
              <a:rPr sz="1400" b="0">
                <a:solidFill>
                  <a:srgbClr val="1F2937"/>
                </a:solidFill>
                <a:latin typeface="Arial"/>
              </a:rPr>
              <a:t>Sector HHI: herfindahl-hirschman index highlights high concentration in HDFC Money Market Fund (HHI: 3,124) vs. Nippon Large Cap (HHI: 1,142).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914400"/>
          </a:xfrm>
          <a:prstGeom prst="rect">
            <a:avLst/>
          </a:prstGeom>
          <a:noFill/>
        </p:spPr>
        <p:txBody>
          <a:bodyPr wrap="none">
            <a:spAutoFit/>
          </a:bodyPr>
          <a:lstStyle/>
          <a:p>
            <a:r>
              <a:rPr sz="2400" b="1">
                <a:solidFill>
                  <a:srgbClr val="2563EB"/>
                </a:solidFill>
                <a:latin typeface="Arial"/>
              </a:rPr>
              <a:t>Advanced: Rolling 90-Day Sharpe Ratio</a:t>
            </a:r>
          </a:p>
        </p:txBody>
      </p:sp>
      <p:pic>
        <p:nvPicPr>
          <p:cNvPr id="3" name="Picture 2" descr="rolling_sharpe_chart.png"/>
          <p:cNvPicPr>
            <a:picLocks noChangeAspect="1"/>
          </p:cNvPicPr>
          <p:nvPr/>
        </p:nvPicPr>
        <p:blipFill>
          <a:blip r:embed="rId2"/>
          <a:stretch>
            <a:fillRect/>
          </a:stretch>
        </p:blipFill>
        <p:spPr>
          <a:xfrm>
            <a:off x="914400" y="1097280"/>
            <a:ext cx="7315200" cy="4114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Premium Interactive Web Dashboard</a:t>
            </a:r>
          </a:p>
        </p:txBody>
      </p:sp>
      <p:sp>
        <p:nvSpPr>
          <p:cNvPr id="3" name="Content Placeholder 2"/>
          <p:cNvSpPr>
            <a:spLocks noGrp="1"/>
          </p:cNvSpPr>
          <p:nvPr>
            <p:ph idx="1"/>
          </p:nvPr>
        </p:nvSpPr>
        <p:spPr/>
        <p:txBody>
          <a:bodyPr/>
          <a:lstStyle/>
          <a:p>
            <a:r>
              <a:t>A custom-engineered Single Page Web App (dashboard/server.py + index.html) with Chart.js visualization:</a:t>
            </a:r>
          </a:p>
          <a:p>
            <a:pPr lvl="1"/>
            <a:r>
              <a:rPr sz="1400" b="0">
                <a:solidFill>
                  <a:srgbClr val="1F2937"/>
                </a:solidFill>
                <a:latin typeface="Arial"/>
              </a:rPr>
              <a:t>Industry Overview: KPI cards for total industry assets and line trends.</a:t>
            </a:r>
          </a:p>
          <a:p>
            <a:pPr lvl="1"/>
            <a:r>
              <a:rPr sz="1400" b="0">
                <a:solidFill>
                  <a:srgbClr val="1F2937"/>
                </a:solidFill>
                <a:latin typeface="Arial"/>
              </a:rPr>
              <a:t>Fund Performance: Live Risk-Return scatter plot and sortable tables.</a:t>
            </a:r>
          </a:p>
          <a:p>
            <a:pPr lvl="1"/>
            <a:r>
              <a:rPr sz="1400" b="0">
                <a:solidFill>
                  <a:srgbClr val="1F2937"/>
                </a:solidFill>
                <a:latin typeface="Arial"/>
              </a:rPr>
              <a:t>Investor Analytics: Split of transactions by state, age, and payment modes.</a:t>
            </a:r>
          </a:p>
          <a:p>
            <a:pPr lvl="1"/>
            <a:r>
              <a:rPr sz="1400" b="0">
                <a:solidFill>
                  <a:srgbClr val="1F2937"/>
                </a:solidFill>
                <a:latin typeface="Arial"/>
              </a:rPr>
              <a:t>SIP &amp; Market Trends: Dual-axis monthly SIP inflow vs. Nifty 50 close.</a:t>
            </a:r>
          </a:p>
          <a:p>
            <a:pPr lvl="1"/>
            <a:r>
              <a:rPr sz="1400" b="0">
                <a:solidFill>
                  <a:srgbClr val="1F2937"/>
                </a:solidFill>
                <a:latin typeface="Arial"/>
              </a:rPr>
              <a:t>Intelligent Fund Recommender: Embedded engine recommending top 3 funds by Sharpe ratio matching risk appetites (Low / Moderate / High).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2563EB"/>
                </a:solidFill>
                <a:latin typeface="Arial"/>
              </a:rPr>
              <a:t>Key Takeaways &amp; Recommendations</a:t>
            </a:r>
          </a:p>
        </p:txBody>
      </p:sp>
      <p:sp>
        <p:nvSpPr>
          <p:cNvPr id="3" name="Content Placeholder 2"/>
          <p:cNvSpPr>
            <a:spLocks noGrp="1"/>
          </p:cNvSpPr>
          <p:nvPr>
            <p:ph idx="1"/>
          </p:nvPr>
        </p:nvSpPr>
        <p:spPr/>
        <p:txBody>
          <a:bodyPr/>
          <a:lstStyle/>
          <a:p/>
          <a:p>
            <a:r>
              <a:rPr sz="1800" b="1">
                <a:solidFill>
                  <a:srgbClr val="2563EB"/>
                </a:solidFill>
                <a:latin typeface="Arial"/>
              </a:rPr>
              <a:t>Key Recommendations:</a:t>
            </a:r>
          </a:p>
          <a:p>
            <a:pPr lvl="1"/>
            <a:r>
              <a:rPr sz="1400" b="0">
                <a:solidFill>
                  <a:srgbClr val="1F2937"/>
                </a:solidFill>
                <a:latin typeface="Arial"/>
              </a:rPr>
              <a:t>1. Mitigate SIP Attrition: Deploy SMS alerts to resolve the 97.8% 'at-risk' transactions.</a:t>
            </a:r>
          </a:p>
          <a:p>
            <a:pPr lvl="1"/>
            <a:r>
              <a:rPr sz="1400" b="0">
                <a:solidFill>
                  <a:srgbClr val="1F2937"/>
                </a:solidFill>
                <a:latin typeface="Arial"/>
              </a:rPr>
              <a:t>2. Diversify Concentration: Rebalance sector exposure for highly concentrated funds (HHI &gt; 2800).</a:t>
            </a:r>
          </a:p>
          <a:p>
            <a:pPr lvl="1"/>
            <a:r>
              <a:rPr sz="1400" b="0">
                <a:solidFill>
                  <a:srgbClr val="1F2937"/>
                </a:solidFill>
                <a:latin typeface="Arial"/>
              </a:rPr>
              <a:t>3. Automate Data Loads: Ensure the weekdays 8 PM scheduler remains active to pull live NAVs.</a:t>
            </a:r>
          </a:p>
          <a:p>
            <a:pPr lvl="1"/>
            <a:r>
              <a:rPr sz="1400" b="0">
                <a:solidFill>
                  <a:srgbClr val="1F2937"/>
                </a:solidFill>
                <a:latin typeface="Arial"/>
              </a:rPr>
              <a:t>Thank You! Q&amp;A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